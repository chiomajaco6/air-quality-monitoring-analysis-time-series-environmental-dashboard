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D1B2A"/>
                </a:solidFill>
                <a:latin typeface="Arial"/>
              </a:rPr>
              <a:t>Observations per AQI Category  (N = 1,845)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Observations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5D0-4764-98B8-AF69182B2931}"/>
              </c:ext>
            </c:extLst>
          </c:dPt>
          <c:dPt>
            <c:idx val="1"/>
            <c:invertIfNegative val="0"/>
            <c:bubble3D val="0"/>
            <c:spPr>
              <a:solidFill>
                <a:srgbClr val="52B7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5D0-4764-98B8-AF69182B2931}"/>
              </c:ext>
            </c:extLst>
          </c:dPt>
          <c:dPt>
            <c:idx val="2"/>
            <c:invertIfNegative val="0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5D0-4764-98B8-AF69182B2931}"/>
              </c:ext>
            </c:extLst>
          </c:dPt>
          <c:dPt>
            <c:idx val="3"/>
            <c:invertIfNegative val="0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5D0-4764-98B8-AF69182B293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Cat 1 — Good</c:v>
                </c:pt>
                <c:pt idx="1">
                  <c:v>Cat 2 — Moderate</c:v>
                </c:pt>
                <c:pt idx="2">
                  <c:v>Cat 3 — Sensitive</c:v>
                </c:pt>
                <c:pt idx="3">
                  <c:v>Cat 4 — Unhealthy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595</c:v>
                </c:pt>
                <c:pt idx="1">
                  <c:v>515</c:v>
                </c:pt>
                <c:pt idx="2">
                  <c:v>195</c:v>
                </c:pt>
                <c:pt idx="3">
                  <c:v>540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5D0-4764-98B8-AF69182B293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7F6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D1B2A"/>
                </a:solidFill>
                <a:latin typeface="Arial"/>
              </a:rPr>
              <a:t>CO vs NO2 Concentration Over Time (every 100th observation, n=1845)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</c:v>
                </c:pt>
              </c:strCache>
            </c:strRef>
          </c:tx>
          <c:spPr>
            <a:ln w="25400" cap="flat">
              <a:solidFill>
                <a:srgbClr val="E6394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63946"/>
              </a:solidFill>
              <a:ln w="9525" cap="flat">
                <a:solidFill>
                  <a:srgbClr val="E63946"/>
                </a:solidFill>
                <a:prstDash val="solid"/>
                <a:round/>
              </a:ln>
              <a:effectLst/>
            </c:spPr>
          </c:marker>
          <c:cat>
            <c:strRef>
              <c:f>Sheet1!$A$2:$A$20</c:f>
              <c:strCache>
                <c:ptCount val="19"/>
                <c:pt idx="0">
                  <c:v>t1</c:v>
                </c:pt>
                <c:pt idx="1">
                  <c:v>t101</c:v>
                </c:pt>
                <c:pt idx="2">
                  <c:v>t201</c:v>
                </c:pt>
                <c:pt idx="3">
                  <c:v>t301</c:v>
                </c:pt>
                <c:pt idx="4">
                  <c:v>t401</c:v>
                </c:pt>
                <c:pt idx="5">
                  <c:v>t501</c:v>
                </c:pt>
                <c:pt idx="6">
                  <c:v>t601</c:v>
                </c:pt>
                <c:pt idx="7">
                  <c:v>t701</c:v>
                </c:pt>
                <c:pt idx="8">
                  <c:v>t801</c:v>
                </c:pt>
                <c:pt idx="9">
                  <c:v>t901</c:v>
                </c:pt>
                <c:pt idx="10">
                  <c:v>t1001</c:v>
                </c:pt>
                <c:pt idx="11">
                  <c:v>t1101</c:v>
                </c:pt>
                <c:pt idx="12">
                  <c:v>t1201</c:v>
                </c:pt>
                <c:pt idx="13">
                  <c:v>t1301</c:v>
                </c:pt>
                <c:pt idx="14">
                  <c:v>t1401</c:v>
                </c:pt>
                <c:pt idx="15">
                  <c:v>t1501</c:v>
                </c:pt>
                <c:pt idx="16">
                  <c:v>t1601</c:v>
                </c:pt>
                <c:pt idx="17">
                  <c:v>t1701</c:v>
                </c:pt>
                <c:pt idx="18">
                  <c:v>t1801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670</c:v>
                </c:pt>
                <c:pt idx="1">
                  <c:v>506</c:v>
                </c:pt>
                <c:pt idx="2">
                  <c:v>737</c:v>
                </c:pt>
                <c:pt idx="3">
                  <c:v>539</c:v>
                </c:pt>
                <c:pt idx="4">
                  <c:v>918</c:v>
                </c:pt>
                <c:pt idx="5">
                  <c:v>554</c:v>
                </c:pt>
                <c:pt idx="6">
                  <c:v>811</c:v>
                </c:pt>
                <c:pt idx="7">
                  <c:v>748</c:v>
                </c:pt>
                <c:pt idx="8">
                  <c:v>528</c:v>
                </c:pt>
                <c:pt idx="9">
                  <c:v>545</c:v>
                </c:pt>
                <c:pt idx="10">
                  <c:v>1011</c:v>
                </c:pt>
                <c:pt idx="11">
                  <c:v>367</c:v>
                </c:pt>
                <c:pt idx="12">
                  <c:v>764</c:v>
                </c:pt>
                <c:pt idx="13">
                  <c:v>660</c:v>
                </c:pt>
                <c:pt idx="14">
                  <c:v>426</c:v>
                </c:pt>
                <c:pt idx="15">
                  <c:v>383</c:v>
                </c:pt>
                <c:pt idx="16">
                  <c:v>754</c:v>
                </c:pt>
                <c:pt idx="17">
                  <c:v>390</c:v>
                </c:pt>
                <c:pt idx="18">
                  <c:v>389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7D7-415D-8E10-108793D2222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NO2</c:v>
                </c:pt>
              </c:strCache>
            </c:strRef>
          </c:tx>
          <c:spPr>
            <a:ln w="25400" cap="flat">
              <a:solidFill>
                <a:srgbClr val="457B9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57B9D"/>
              </a:solidFill>
              <a:ln w="9525" cap="flat">
                <a:solidFill>
                  <a:srgbClr val="457B9D"/>
                </a:solidFill>
                <a:prstDash val="solid"/>
                <a:round/>
              </a:ln>
              <a:effectLst/>
            </c:spPr>
          </c:marker>
          <c:cat>
            <c:strRef>
              <c:f>Sheet1!$A$2:$A$20</c:f>
              <c:strCache>
                <c:ptCount val="19"/>
                <c:pt idx="0">
                  <c:v>t1</c:v>
                </c:pt>
                <c:pt idx="1">
                  <c:v>t101</c:v>
                </c:pt>
                <c:pt idx="2">
                  <c:v>t201</c:v>
                </c:pt>
                <c:pt idx="3">
                  <c:v>t301</c:v>
                </c:pt>
                <c:pt idx="4">
                  <c:v>t401</c:v>
                </c:pt>
                <c:pt idx="5">
                  <c:v>t501</c:v>
                </c:pt>
                <c:pt idx="6">
                  <c:v>t601</c:v>
                </c:pt>
                <c:pt idx="7">
                  <c:v>t701</c:v>
                </c:pt>
                <c:pt idx="8">
                  <c:v>t801</c:v>
                </c:pt>
                <c:pt idx="9">
                  <c:v>t901</c:v>
                </c:pt>
                <c:pt idx="10">
                  <c:v>t1001</c:v>
                </c:pt>
                <c:pt idx="11">
                  <c:v>t1101</c:v>
                </c:pt>
                <c:pt idx="12">
                  <c:v>t1201</c:v>
                </c:pt>
                <c:pt idx="13">
                  <c:v>t1301</c:v>
                </c:pt>
                <c:pt idx="14">
                  <c:v>t1401</c:v>
                </c:pt>
                <c:pt idx="15">
                  <c:v>t1501</c:v>
                </c:pt>
                <c:pt idx="16">
                  <c:v>t1601</c:v>
                </c:pt>
                <c:pt idx="17">
                  <c:v>t1701</c:v>
                </c:pt>
                <c:pt idx="18">
                  <c:v>t1801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696</c:v>
                </c:pt>
                <c:pt idx="1">
                  <c:v>492</c:v>
                </c:pt>
                <c:pt idx="2">
                  <c:v>705</c:v>
                </c:pt>
                <c:pt idx="3">
                  <c:v>536</c:v>
                </c:pt>
                <c:pt idx="4">
                  <c:v>1013</c:v>
                </c:pt>
                <c:pt idx="5">
                  <c:v>584</c:v>
                </c:pt>
                <c:pt idx="6">
                  <c:v>830</c:v>
                </c:pt>
                <c:pt idx="7">
                  <c:v>794</c:v>
                </c:pt>
                <c:pt idx="8">
                  <c:v>611</c:v>
                </c:pt>
                <c:pt idx="9">
                  <c:v>625</c:v>
                </c:pt>
                <c:pt idx="10">
                  <c:v>950</c:v>
                </c:pt>
                <c:pt idx="11">
                  <c:v>473</c:v>
                </c:pt>
                <c:pt idx="12">
                  <c:v>917</c:v>
                </c:pt>
                <c:pt idx="13">
                  <c:v>735</c:v>
                </c:pt>
                <c:pt idx="14">
                  <c:v>555</c:v>
                </c:pt>
                <c:pt idx="15">
                  <c:v>434</c:v>
                </c:pt>
                <c:pt idx="16">
                  <c:v>883</c:v>
                </c:pt>
                <c:pt idx="17">
                  <c:v>509</c:v>
                </c:pt>
                <c:pt idx="18">
                  <c:v>464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87D7-415D-8E10-108793D222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4F7F6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D1B2A"/>
                </a:solidFill>
                <a:latin typeface="Arial"/>
              </a:rPr>
              <a:t>ETS Forecast — CO: Actual History + 30-Step Ahead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(CO)</c:v>
                </c:pt>
              </c:strCache>
            </c:strRef>
          </c:tx>
          <c:spPr>
            <a:ln w="25400" cap="flat">
              <a:solidFill>
                <a:srgbClr val="52B7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52B788"/>
              </a:solidFill>
              <a:ln w="9525" cap="flat">
                <a:solidFill>
                  <a:srgbClr val="52B788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  <c:pt idx="7">
                  <c:v>t8</c:v>
                </c:pt>
                <c:pt idx="8">
                  <c:v>t9</c:v>
                </c:pt>
                <c:pt idx="9">
                  <c:v>t10</c:v>
                </c:pt>
                <c:pt idx="10">
                  <c:v>t11</c:v>
                </c:pt>
                <c:pt idx="11">
                  <c:v>t12</c:v>
                </c:pt>
                <c:pt idx="12">
                  <c:v>t13</c:v>
                </c:pt>
                <c:pt idx="13">
                  <c:v>t14</c:v>
                </c:pt>
                <c:pt idx="14">
                  <c:v>t15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670</c:v>
                </c:pt>
                <c:pt idx="1">
                  <c:v>641</c:v>
                </c:pt>
                <c:pt idx="2">
                  <c:v>642</c:v>
                </c:pt>
                <c:pt idx="3">
                  <c:v>640</c:v>
                </c:pt>
                <c:pt idx="4">
                  <c:v>616</c:v>
                </c:pt>
                <c:pt idx="5">
                  <c:v>780</c:v>
                </c:pt>
                <c:pt idx="6">
                  <c:v>639</c:v>
                </c:pt>
                <c:pt idx="7">
                  <c:v>564</c:v>
                </c:pt>
                <c:pt idx="8">
                  <c:v>797</c:v>
                </c:pt>
                <c:pt idx="9">
                  <c:v>740</c:v>
                </c:pt>
                <c:pt idx="10">
                  <c:v>887</c:v>
                </c:pt>
                <c:pt idx="11">
                  <c:v>627</c:v>
                </c:pt>
                <c:pt idx="12">
                  <c:v>564</c:v>
                </c:pt>
                <c:pt idx="13">
                  <c:v>743</c:v>
                </c:pt>
                <c:pt idx="14">
                  <c:v>620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236-4B17-A0FD-B29173F4542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Forecast</c:v>
                </c:pt>
              </c:strCache>
            </c:strRef>
          </c:tx>
          <c:spPr>
            <a:ln w="25400" cap="flat">
              <a:solidFill>
                <a:srgbClr val="E6394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63946"/>
              </a:solidFill>
              <a:ln w="9525" cap="flat">
                <a:solidFill>
                  <a:srgbClr val="E63946"/>
                </a:solidFill>
                <a:prstDash val="solid"/>
                <a:round/>
              </a:ln>
              <a:effectLst/>
            </c:spPr>
          </c:marker>
          <c:cat>
            <c:strRef>
              <c:f>Sheet1!$A$2:$A$31</c:f>
              <c:strCache>
                <c:ptCount val="30"/>
                <c:pt idx="0">
                  <c:v>f1</c:v>
                </c:pt>
                <c:pt idx="1">
                  <c:v>f2</c:v>
                </c:pt>
                <c:pt idx="2">
                  <c:v>f3</c:v>
                </c:pt>
                <c:pt idx="3">
                  <c:v>f4</c:v>
                </c:pt>
                <c:pt idx="4">
                  <c:v>f5</c:v>
                </c:pt>
                <c:pt idx="5">
                  <c:v>f6</c:v>
                </c:pt>
                <c:pt idx="6">
                  <c:v>f7</c:v>
                </c:pt>
                <c:pt idx="7">
                  <c:v>f8</c:v>
                </c:pt>
                <c:pt idx="8">
                  <c:v>f9</c:v>
                </c:pt>
                <c:pt idx="9">
                  <c:v>f10</c:v>
                </c:pt>
                <c:pt idx="10">
                  <c:v>f11</c:v>
                </c:pt>
                <c:pt idx="11">
                  <c:v>f12</c:v>
                </c:pt>
                <c:pt idx="12">
                  <c:v>f13</c:v>
                </c:pt>
                <c:pt idx="13">
                  <c:v>f14</c:v>
                </c:pt>
                <c:pt idx="14">
                  <c:v>f15</c:v>
                </c:pt>
                <c:pt idx="15">
                  <c:v>f16</c:v>
                </c:pt>
                <c:pt idx="16">
                  <c:v>f17</c:v>
                </c:pt>
                <c:pt idx="17">
                  <c:v>f18</c:v>
                </c:pt>
                <c:pt idx="18">
                  <c:v>f19</c:v>
                </c:pt>
                <c:pt idx="19">
                  <c:v>f20</c:v>
                </c:pt>
                <c:pt idx="20">
                  <c:v>f21</c:v>
                </c:pt>
                <c:pt idx="21">
                  <c:v>f22</c:v>
                </c:pt>
                <c:pt idx="22">
                  <c:v>f23</c:v>
                </c:pt>
                <c:pt idx="23">
                  <c:v>f24</c:v>
                </c:pt>
                <c:pt idx="24">
                  <c:v>f25</c:v>
                </c:pt>
                <c:pt idx="25">
                  <c:v>f26</c:v>
                </c:pt>
                <c:pt idx="26">
                  <c:v>f27</c:v>
                </c:pt>
                <c:pt idx="27">
                  <c:v>f28</c:v>
                </c:pt>
                <c:pt idx="28">
                  <c:v>f29</c:v>
                </c:pt>
                <c:pt idx="29">
                  <c:v>f30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610</c:v>
                </c:pt>
                <c:pt idx="1">
                  <c:v>595</c:v>
                </c:pt>
                <c:pt idx="2">
                  <c:v>580</c:v>
                </c:pt>
                <c:pt idx="3">
                  <c:v>565</c:v>
                </c:pt>
                <c:pt idx="4">
                  <c:v>552</c:v>
                </c:pt>
                <c:pt idx="5">
                  <c:v>540</c:v>
                </c:pt>
                <c:pt idx="6">
                  <c:v>530</c:v>
                </c:pt>
                <c:pt idx="7">
                  <c:v>520</c:v>
                </c:pt>
                <c:pt idx="8">
                  <c:v>511</c:v>
                </c:pt>
                <c:pt idx="9">
                  <c:v>503</c:v>
                </c:pt>
                <c:pt idx="10">
                  <c:v>496</c:v>
                </c:pt>
                <c:pt idx="11">
                  <c:v>490</c:v>
                </c:pt>
                <c:pt idx="12">
                  <c:v>484</c:v>
                </c:pt>
                <c:pt idx="13">
                  <c:v>480</c:v>
                </c:pt>
                <c:pt idx="14">
                  <c:v>475</c:v>
                </c:pt>
                <c:pt idx="15">
                  <c:v>470</c:v>
                </c:pt>
                <c:pt idx="16">
                  <c:v>466</c:v>
                </c:pt>
                <c:pt idx="17">
                  <c:v>462</c:v>
                </c:pt>
                <c:pt idx="18">
                  <c:v>459</c:v>
                </c:pt>
                <c:pt idx="19">
                  <c:v>456</c:v>
                </c:pt>
                <c:pt idx="20">
                  <c:v>453</c:v>
                </c:pt>
                <c:pt idx="21">
                  <c:v>451</c:v>
                </c:pt>
                <c:pt idx="22">
                  <c:v>449</c:v>
                </c:pt>
                <c:pt idx="23">
                  <c:v>447</c:v>
                </c:pt>
                <c:pt idx="24">
                  <c:v>445</c:v>
                </c:pt>
                <c:pt idx="25">
                  <c:v>444</c:v>
                </c:pt>
                <c:pt idx="26">
                  <c:v>443</c:v>
                </c:pt>
                <c:pt idx="27">
                  <c:v>442</c:v>
                </c:pt>
                <c:pt idx="28">
                  <c:v>441</c:v>
                </c:pt>
                <c:pt idx="29">
                  <c:v>440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7236-4B17-A0FD-B29173F4542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Upper 95% CI</c:v>
                </c:pt>
              </c:strCache>
            </c:strRef>
          </c:tx>
          <c:spPr>
            <a:ln w="25400" cap="flat">
              <a:solidFill>
                <a:srgbClr val="FFAAA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AAAA"/>
              </a:solidFill>
              <a:ln w="9525" cap="flat">
                <a:solidFill>
                  <a:srgbClr val="FFAAAA"/>
                </a:solidFill>
                <a:prstDash val="solid"/>
                <a:round/>
              </a:ln>
              <a:effectLst/>
            </c:spPr>
          </c:marker>
          <c:cat>
            <c:strRef>
              <c:f>Sheet1!$A$2:$A$31</c:f>
              <c:strCache>
                <c:ptCount val="30"/>
                <c:pt idx="0">
                  <c:v>f1</c:v>
                </c:pt>
                <c:pt idx="1">
                  <c:v>f2</c:v>
                </c:pt>
                <c:pt idx="2">
                  <c:v>f3</c:v>
                </c:pt>
                <c:pt idx="3">
                  <c:v>f4</c:v>
                </c:pt>
                <c:pt idx="4">
                  <c:v>f5</c:v>
                </c:pt>
                <c:pt idx="5">
                  <c:v>f6</c:v>
                </c:pt>
                <c:pt idx="6">
                  <c:v>f7</c:v>
                </c:pt>
                <c:pt idx="7">
                  <c:v>f8</c:v>
                </c:pt>
                <c:pt idx="8">
                  <c:v>f9</c:v>
                </c:pt>
                <c:pt idx="9">
                  <c:v>f10</c:v>
                </c:pt>
                <c:pt idx="10">
                  <c:v>f11</c:v>
                </c:pt>
                <c:pt idx="11">
                  <c:v>f12</c:v>
                </c:pt>
                <c:pt idx="12">
                  <c:v>f13</c:v>
                </c:pt>
                <c:pt idx="13">
                  <c:v>f14</c:v>
                </c:pt>
                <c:pt idx="14">
                  <c:v>f15</c:v>
                </c:pt>
                <c:pt idx="15">
                  <c:v>f16</c:v>
                </c:pt>
                <c:pt idx="16">
                  <c:v>f17</c:v>
                </c:pt>
                <c:pt idx="17">
                  <c:v>f18</c:v>
                </c:pt>
                <c:pt idx="18">
                  <c:v>f19</c:v>
                </c:pt>
                <c:pt idx="19">
                  <c:v>f20</c:v>
                </c:pt>
                <c:pt idx="20">
                  <c:v>f21</c:v>
                </c:pt>
                <c:pt idx="21">
                  <c:v>f22</c:v>
                </c:pt>
                <c:pt idx="22">
                  <c:v>f23</c:v>
                </c:pt>
                <c:pt idx="23">
                  <c:v>f24</c:v>
                </c:pt>
                <c:pt idx="24">
                  <c:v>f25</c:v>
                </c:pt>
                <c:pt idx="25">
                  <c:v>f26</c:v>
                </c:pt>
                <c:pt idx="26">
                  <c:v>f27</c:v>
                </c:pt>
                <c:pt idx="27">
                  <c:v>f28</c:v>
                </c:pt>
                <c:pt idx="28">
                  <c:v>f29</c:v>
                </c:pt>
                <c:pt idx="29">
                  <c:v>f30</c:v>
                </c:pt>
              </c:strCache>
            </c:strRef>
          </c:cat>
          <c:val>
            <c:numRef>
              <c:f>Sheet1!$D$2:$D$31</c:f>
              <c:numCache>
                <c:formatCode>General</c:formatCode>
                <c:ptCount val="30"/>
                <c:pt idx="0">
                  <c:v>700</c:v>
                </c:pt>
                <c:pt idx="1">
                  <c:v>689</c:v>
                </c:pt>
                <c:pt idx="2">
                  <c:v>677</c:v>
                </c:pt>
                <c:pt idx="3">
                  <c:v>666</c:v>
                </c:pt>
                <c:pt idx="4">
                  <c:v>656</c:v>
                </c:pt>
                <c:pt idx="5">
                  <c:v>648</c:v>
                </c:pt>
                <c:pt idx="6">
                  <c:v>641</c:v>
                </c:pt>
                <c:pt idx="7">
                  <c:v>635</c:v>
                </c:pt>
                <c:pt idx="8">
                  <c:v>629</c:v>
                </c:pt>
                <c:pt idx="9">
                  <c:v>625</c:v>
                </c:pt>
                <c:pt idx="10">
                  <c:v>621</c:v>
                </c:pt>
                <c:pt idx="11">
                  <c:v>619</c:v>
                </c:pt>
                <c:pt idx="12">
                  <c:v>616</c:v>
                </c:pt>
                <c:pt idx="13">
                  <c:v>616</c:v>
                </c:pt>
                <c:pt idx="14">
                  <c:v>614</c:v>
                </c:pt>
                <c:pt idx="15">
                  <c:v>613</c:v>
                </c:pt>
                <c:pt idx="16">
                  <c:v>612</c:v>
                </c:pt>
                <c:pt idx="17">
                  <c:v>612</c:v>
                </c:pt>
                <c:pt idx="18">
                  <c:v>612</c:v>
                </c:pt>
                <c:pt idx="19">
                  <c:v>613</c:v>
                </c:pt>
                <c:pt idx="20">
                  <c:v>613</c:v>
                </c:pt>
                <c:pt idx="21">
                  <c:v>615</c:v>
                </c:pt>
                <c:pt idx="22">
                  <c:v>616</c:v>
                </c:pt>
                <c:pt idx="23">
                  <c:v>618</c:v>
                </c:pt>
                <c:pt idx="24">
                  <c:v>619</c:v>
                </c:pt>
                <c:pt idx="25">
                  <c:v>622</c:v>
                </c:pt>
                <c:pt idx="26">
                  <c:v>624</c:v>
                </c:pt>
                <c:pt idx="27">
                  <c:v>627</c:v>
                </c:pt>
                <c:pt idx="28">
                  <c:v>629</c:v>
                </c:pt>
                <c:pt idx="29">
                  <c:v>632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7236-4B17-A0FD-B29173F4542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Lower 95% CI</c:v>
                </c:pt>
              </c:strCache>
            </c:strRef>
          </c:tx>
          <c:spPr>
            <a:ln w="25400" cap="flat">
              <a:solidFill>
                <a:srgbClr val="FFAAA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AAAA"/>
              </a:solidFill>
              <a:ln w="9525" cap="flat">
                <a:solidFill>
                  <a:srgbClr val="FFAAAA"/>
                </a:solidFill>
                <a:prstDash val="solid"/>
                <a:round/>
              </a:ln>
              <a:effectLst/>
            </c:spPr>
          </c:marker>
          <c:cat>
            <c:strRef>
              <c:f>Sheet1!$A$2:$A$31</c:f>
              <c:strCache>
                <c:ptCount val="30"/>
                <c:pt idx="0">
                  <c:v>f1</c:v>
                </c:pt>
                <c:pt idx="1">
                  <c:v>f2</c:v>
                </c:pt>
                <c:pt idx="2">
                  <c:v>f3</c:v>
                </c:pt>
                <c:pt idx="3">
                  <c:v>f4</c:v>
                </c:pt>
                <c:pt idx="4">
                  <c:v>f5</c:v>
                </c:pt>
                <c:pt idx="5">
                  <c:v>f6</c:v>
                </c:pt>
                <c:pt idx="6">
                  <c:v>f7</c:v>
                </c:pt>
                <c:pt idx="7">
                  <c:v>f8</c:v>
                </c:pt>
                <c:pt idx="8">
                  <c:v>f9</c:v>
                </c:pt>
                <c:pt idx="9">
                  <c:v>f10</c:v>
                </c:pt>
                <c:pt idx="10">
                  <c:v>f11</c:v>
                </c:pt>
                <c:pt idx="11">
                  <c:v>f12</c:v>
                </c:pt>
                <c:pt idx="12">
                  <c:v>f13</c:v>
                </c:pt>
                <c:pt idx="13">
                  <c:v>f14</c:v>
                </c:pt>
                <c:pt idx="14">
                  <c:v>f15</c:v>
                </c:pt>
                <c:pt idx="15">
                  <c:v>f16</c:v>
                </c:pt>
                <c:pt idx="16">
                  <c:v>f17</c:v>
                </c:pt>
                <c:pt idx="17">
                  <c:v>f18</c:v>
                </c:pt>
                <c:pt idx="18">
                  <c:v>f19</c:v>
                </c:pt>
                <c:pt idx="19">
                  <c:v>f20</c:v>
                </c:pt>
                <c:pt idx="20">
                  <c:v>f21</c:v>
                </c:pt>
                <c:pt idx="21">
                  <c:v>f22</c:v>
                </c:pt>
                <c:pt idx="22">
                  <c:v>f23</c:v>
                </c:pt>
                <c:pt idx="23">
                  <c:v>f24</c:v>
                </c:pt>
                <c:pt idx="24">
                  <c:v>f25</c:v>
                </c:pt>
                <c:pt idx="25">
                  <c:v>f26</c:v>
                </c:pt>
                <c:pt idx="26">
                  <c:v>f27</c:v>
                </c:pt>
                <c:pt idx="27">
                  <c:v>f28</c:v>
                </c:pt>
                <c:pt idx="28">
                  <c:v>f29</c:v>
                </c:pt>
                <c:pt idx="29">
                  <c:v>f30</c:v>
                </c:pt>
              </c:strCache>
            </c:strRef>
          </c:cat>
          <c:val>
            <c:numRef>
              <c:f>Sheet1!$E$2:$E$31</c:f>
              <c:numCache>
                <c:formatCode>General</c:formatCode>
                <c:ptCount val="30"/>
                <c:pt idx="0">
                  <c:v>520</c:v>
                </c:pt>
                <c:pt idx="1">
                  <c:v>502</c:v>
                </c:pt>
                <c:pt idx="2">
                  <c:v>483</c:v>
                </c:pt>
                <c:pt idx="3">
                  <c:v>465</c:v>
                </c:pt>
                <c:pt idx="4">
                  <c:v>448</c:v>
                </c:pt>
                <c:pt idx="5">
                  <c:v>433</c:v>
                </c:pt>
                <c:pt idx="6">
                  <c:v>419</c:v>
                </c:pt>
                <c:pt idx="7">
                  <c:v>406</c:v>
                </c:pt>
                <c:pt idx="8">
                  <c:v>393</c:v>
                </c:pt>
                <c:pt idx="9">
                  <c:v>382</c:v>
                </c:pt>
                <c:pt idx="10">
                  <c:v>371</c:v>
                </c:pt>
                <c:pt idx="11">
                  <c:v>362</c:v>
                </c:pt>
                <c:pt idx="12">
                  <c:v>352</c:v>
                </c:pt>
                <c:pt idx="13">
                  <c:v>345</c:v>
                </c:pt>
                <c:pt idx="14">
                  <c:v>336</c:v>
                </c:pt>
                <c:pt idx="15">
                  <c:v>328</c:v>
                </c:pt>
                <c:pt idx="16">
                  <c:v>320</c:v>
                </c:pt>
                <c:pt idx="17">
                  <c:v>313</c:v>
                </c:pt>
                <c:pt idx="18">
                  <c:v>306</c:v>
                </c:pt>
                <c:pt idx="19">
                  <c:v>300</c:v>
                </c:pt>
                <c:pt idx="20">
                  <c:v>293</c:v>
                </c:pt>
                <c:pt idx="21">
                  <c:v>288</c:v>
                </c:pt>
                <c:pt idx="22">
                  <c:v>282</c:v>
                </c:pt>
                <c:pt idx="23">
                  <c:v>277</c:v>
                </c:pt>
                <c:pt idx="24">
                  <c:v>271</c:v>
                </c:pt>
                <c:pt idx="25">
                  <c:v>267</c:v>
                </c:pt>
                <c:pt idx="26">
                  <c:v>262</c:v>
                </c:pt>
                <c:pt idx="27">
                  <c:v>258</c:v>
                </c:pt>
                <c:pt idx="28">
                  <c:v>253</c:v>
                </c:pt>
                <c:pt idx="29">
                  <c:v>249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7236-4B17-A0FD-B29173F454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4F7F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2183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943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Quality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11480" y="146304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Analysis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11480" y="2468880"/>
            <a:ext cx="5029200" cy="3657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606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 Shiny Dashboard  |  1,845 Observations  |  6 Pollutant Variables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040880" y="457200"/>
            <a:ext cx="1828800" cy="91440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0" y="493776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1,845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040880" y="9784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040880" y="1554480"/>
            <a:ext cx="1828800" cy="91440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1591056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040880" y="20756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Pollutants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40880" y="2651760"/>
            <a:ext cx="1828800" cy="91440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0" y="2688336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040880" y="31729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 Categories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40880" y="3749040"/>
            <a:ext cx="1828800" cy="91440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3785616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30-Step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040880" y="42702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Horizon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466344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R  |  Shiny  |  Plotly  |  dplyr  |  forecast  |  DT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502920" cy="6400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07008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143000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444752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Objectives, tools, and data source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856232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56232"/>
            <a:ext cx="502920" cy="6400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65960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1901952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2203704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structure, and preprocessing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615184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615184"/>
            <a:ext cx="502920" cy="6400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724912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2660904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Architecture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2962656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Shiny app modules and UI design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374136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374136"/>
            <a:ext cx="502920" cy="6400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483864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3419856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" y="3721608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across all pollutants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133088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133088"/>
            <a:ext cx="502920" cy="6400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242816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51560" y="4178808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 Category Distribution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51560" y="4480560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quality index breakdown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1097280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1097280"/>
            <a:ext cx="502920" cy="6400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207008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40680" y="1143000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Analysis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40680" y="1444752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Trends, patterns, and comparisons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1856232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46320" y="1856232"/>
            <a:ext cx="502920" cy="6400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1965960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440680" y="1901952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40680" y="2203704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Inter-pollutant relationships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0" y="2615184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46320" y="2615184"/>
            <a:ext cx="502920" cy="6400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2724912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440680" y="2660904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40680" y="2962656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 model with 30-step predictions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46320" y="3374136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46320" y="3374136"/>
            <a:ext cx="502920" cy="6400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6320" y="3483864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440680" y="3419856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440680" y="3721608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and recommendations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Project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3657600"/>
          </a:xfrm>
          <a:prstGeom prst="rect">
            <a:avLst/>
          </a:prstGeom>
          <a:solidFill>
            <a:srgbClr val="F4F7F6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urban air quality across 6 pollutant indicators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interactive R Shiny dashboard for real-time data exploration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temporal patterns and seasonal pollution trends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correlations between pollutants and temperature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ETS time series forecasting with 30-step horizon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readings into AQI categories for public health insight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960120"/>
            <a:ext cx="4114800" cy="3657600"/>
          </a:xfrm>
          <a:prstGeom prst="rect">
            <a:avLst/>
          </a:prstGeom>
          <a:solidFill>
            <a:srgbClr val="F4F7F6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024128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800600" y="1508760"/>
            <a:ext cx="1188720" cy="34747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54533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+ Shiny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80760" y="15636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&amp; web app framework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0600" y="2011680"/>
            <a:ext cx="1188720" cy="34747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204825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shinydashboard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80760" y="206654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layout &amp; navigation UI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0600" y="2514600"/>
            <a:ext cx="1188720" cy="34747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55117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080760" y="256946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visualisations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00600" y="3017520"/>
            <a:ext cx="1188720" cy="34747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305409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dplyr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080760" y="307238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 &amp; cleaning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3520440"/>
            <a:ext cx="1188720" cy="34747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55701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(ETS)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80760" y="357530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modelling &amp; prediction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4023360"/>
            <a:ext cx="1188720" cy="34747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405993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080760" y="40782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paginated data table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Dataset Description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&amp; Definitions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8412480" cy="26517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14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Carbon Monoxide concentration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µg/m³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Nitrogen Dioxide concentration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µg/m³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Nitrogen Oxides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µg/m³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Ozone concentration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µg/m³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PM2.5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 Particulate Matter (&lt;2.5µm)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µg/m³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Ambient temperature reading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AQI class: 1=Good, 2=Moderate, 3=Sensitive Groups, 4=Unhealthy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160520"/>
            <a:ext cx="8412480" cy="777240"/>
          </a:xfrm>
          <a:prstGeom prst="rect">
            <a:avLst/>
          </a:prstGeom>
          <a:solidFill>
            <a:srgbClr val="FFFBEA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4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446227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4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encoded as -200 were replaced with column means via dplyr::mutate(across(where(is.numeric), ...)). Final dataset: 1,845 complete observations across 7 columns.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Dashboard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Shiny App — 5 Interactive Navigation Tabs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8412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53312"/>
            <a:ext cx="1920240" cy="62179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9047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23160" y="1463040"/>
            <a:ext cx="6172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value boxes (Avg / Max / Min), pollutant trend line chart, distribution histogram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8412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057400"/>
            <a:ext cx="1920240" cy="62179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19456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23160" y="2167128"/>
            <a:ext cx="6172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area time series with fill-to-zero, CO vs NO2 dual-line comparison chart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761488"/>
            <a:ext cx="8412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61488"/>
            <a:ext cx="1920240" cy="62179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89864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23160" y="2871216"/>
            <a:ext cx="6172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RdBu heatmap of all 6 variables, scatter plot vs Temperature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465576"/>
            <a:ext cx="8412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465576"/>
            <a:ext cx="1920240" cy="62179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60273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423160" y="3575304"/>
            <a:ext cx="6172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 model auto-fitted with 30-step ahead forecast + 95% confidence interval ribbon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4169664"/>
            <a:ext cx="8412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169664"/>
            <a:ext cx="1920240" cy="62179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30682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Table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423160" y="4279392"/>
            <a:ext cx="6172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Paginated DT table, scrollable and filtered live by the observation slider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Controls: Pollutant selector (CO / NO2 / NOx / O3 / PM2.5 / Temperature)  +  Observation slider (100 – 1,845)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Descriptive Statistics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743200" cy="1783080"/>
          </a:xfrm>
          <a:prstGeom prst="rect">
            <a:avLst/>
          </a:prstGeom>
          <a:solidFill>
            <a:srgbClr val="F4F7F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2743200" cy="411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49047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3040" y="149047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587.5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79222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63040" y="179222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190.5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09397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63040" y="209397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3957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63040" y="23957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1,266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46120" y="960120"/>
            <a:ext cx="2743200" cy="1783080"/>
          </a:xfrm>
          <a:prstGeom prst="rect">
            <a:avLst/>
          </a:prstGeom>
          <a:solidFill>
            <a:srgbClr val="F4F7F6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960120"/>
            <a:ext cx="2743200" cy="41148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005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83280" y="149047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89120" y="149047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653.5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179222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0" y="179222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173.4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83280" y="209397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89120" y="209397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83280" y="23957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89120" y="23957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1,388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72200" y="960120"/>
            <a:ext cx="2743200" cy="1783080"/>
          </a:xfrm>
          <a:prstGeom prst="rect">
            <a:avLst/>
          </a:prstGeom>
          <a:solidFill>
            <a:srgbClr val="F4F7F6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72200" y="960120"/>
            <a:ext cx="2743200" cy="4114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1005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NOx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09360" y="149047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15200" y="149047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1,166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09360" y="179222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15200" y="179222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208.8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09360" y="209397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15200" y="209397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09360" y="23957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Max: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15200" y="23957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1,738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" y="2898648"/>
            <a:ext cx="2743200" cy="1783080"/>
          </a:xfrm>
          <a:prstGeom prst="rect">
            <a:avLst/>
          </a:prstGeom>
          <a:solidFill>
            <a:srgbClr val="F4F7F6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2898648"/>
            <a:ext cx="2743200" cy="4114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29443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57200" y="34290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Mean: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463040" y="34290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1,609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373075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Dev: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463040" y="373075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118.8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403250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Min: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463040" y="403250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1,323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57200" y="433425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Max: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463040" y="433425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1,926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246120" y="2898648"/>
            <a:ext cx="2743200" cy="1783080"/>
          </a:xfrm>
          <a:prstGeom prst="rect">
            <a:avLst/>
          </a:prstGeom>
          <a:solidFill>
            <a:srgbClr val="F4F7F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46120" y="2898648"/>
            <a:ext cx="2743200" cy="41148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46120" y="29443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3383280" y="34290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Mean: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389120" y="34290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1,302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3383280" y="373075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Dev: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389120" y="373075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279.5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383280" y="403250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Min: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389120" y="403250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773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383280" y="433425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Max: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389120" y="433425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1,948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172200" y="2898648"/>
            <a:ext cx="2743200" cy="1783080"/>
          </a:xfrm>
          <a:prstGeom prst="rect">
            <a:avLst/>
          </a:prstGeom>
          <a:solidFill>
            <a:srgbClr val="F4F7F6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172200" y="2898648"/>
            <a:ext cx="2743200" cy="4114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172200" y="29443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309360" y="34290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Mean: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7315200" y="34290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2,246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309360" y="373075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Dev: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7315200" y="373075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181.0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6309360" y="403250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Min: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7315200" y="403250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1,797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6309360" y="433425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Max: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7315200" y="433425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2,703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320040" y="4828032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values in sensor raw units (scaled µg/m³ equivalent). N = 1,845 observations.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Air Quality Category Distribution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960120"/>
          <a:ext cx="53035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987552"/>
            <a:ext cx="3017520" cy="822960"/>
          </a:xfrm>
          <a:prstGeom prst="rect">
            <a:avLst/>
          </a:prstGeom>
          <a:solidFill>
            <a:srgbClr val="F4F7F6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852160" y="987552"/>
            <a:ext cx="73152" cy="8229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89320" y="10424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 —  32.2%  (n=595)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89320" y="13716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group — clean-air conditions prevail one-third of the time.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852160" y="1947672"/>
            <a:ext cx="3017520" cy="822960"/>
          </a:xfrm>
          <a:prstGeom prst="rect">
            <a:avLst/>
          </a:prstGeom>
          <a:solidFill>
            <a:srgbClr val="F4F7F6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52160" y="1947672"/>
            <a:ext cx="73152" cy="8229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20025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 —  27.9%  (n=515)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989320" y="23317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elevation — acceptable for most healthy individuals.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852160" y="2907792"/>
            <a:ext cx="3017520" cy="822960"/>
          </a:xfrm>
          <a:prstGeom prst="rect">
            <a:avLst/>
          </a:prstGeom>
          <a:solidFill>
            <a:srgbClr val="F4F7F6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852160" y="2907792"/>
            <a:ext cx="73152" cy="8229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89320" y="296265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 —  10.6%  (n=195)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989320" y="32918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category — short spike events for vulnerable groups.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852160" y="3867912"/>
            <a:ext cx="3017520" cy="822960"/>
          </a:xfrm>
          <a:prstGeom prst="rect">
            <a:avLst/>
          </a:prstGeom>
          <a:solidFill>
            <a:srgbClr val="F4F7F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852160" y="3867912"/>
            <a:ext cx="73152" cy="8229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89320" y="392277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Unhealthy  —  29.3%  (n=540)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989320" y="42519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30% — significant public health concern requiring action.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Categories 3+4 = 39.9% of all readings flagged as potentially harmful to human health.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Time Series Analysis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914400"/>
          <a:ext cx="841248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4114800"/>
            <a:ext cx="2743200" cy="749808"/>
          </a:xfrm>
          <a:prstGeom prst="rect">
            <a:avLst/>
          </a:prstGeom>
          <a:solidFill>
            <a:srgbClr val="F4F7F6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41605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CO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44074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1,266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91840" y="4114800"/>
            <a:ext cx="2743200" cy="749808"/>
          </a:xfrm>
          <a:prstGeom prst="rect">
            <a:avLst/>
          </a:prstGeom>
          <a:solidFill>
            <a:srgbClr val="F4F7F6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83280" y="41605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NO2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383280" y="44074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1,388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17920" y="4114800"/>
            <a:ext cx="2743200" cy="749808"/>
          </a:xfrm>
          <a:prstGeom prst="rect">
            <a:avLst/>
          </a:prstGeom>
          <a:solidFill>
            <a:srgbClr val="F4F7F6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09360" y="41605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309360" y="44074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|  Correlation Analysis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RdBu heatmap reveals inter-pollutant relationships (Pearson r, all 1,845 observations):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412480" cy="2377440"/>
        </p:xfrm>
        <a:graphic>
          <a:graphicData uri="http://schemas.openxmlformats.org/drawingml/2006/table">
            <a:tbl>
              <a:tblPr/>
              <a:tblGrid>
                <a:gridCol w="894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2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29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29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29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529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529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96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PM2.5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PM2.5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3886200"/>
            <a:ext cx="2011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3886200"/>
            <a:ext cx="2011680" cy="2743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389534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CO–NOx: r=0.97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11480" y="42062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combustion source</a:t>
            </a:r>
            <a:endParaRPr lang="en-US" sz="1000" dirty="0"/>
          </a:p>
        </p:txBody>
      </p:sp>
      <p:sp>
        <p:nvSpPr>
          <p:cNvPr id="5" name="Shape 7"/>
          <p:cNvSpPr/>
          <p:nvPr/>
        </p:nvSpPr>
        <p:spPr>
          <a:xfrm>
            <a:off x="2514600" y="3886200"/>
            <a:ext cx="2011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14600" y="3886200"/>
            <a:ext cx="2011680" cy="2743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14600" y="389534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NO2–NOx: r=0.98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560320" y="42062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NOx includes NO2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663440" y="3886200"/>
            <a:ext cx="2011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63440" y="3886200"/>
            <a:ext cx="2011680" cy="2743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63440" y="389534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CO–NO2: r=0.94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709160" y="42062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Traffic-linked co-vary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812280" y="3886200"/>
            <a:ext cx="2011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812280" y="3886200"/>
            <a:ext cx="2011680" cy="2743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12280" y="389534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Temp–Pollutants: r=~0.10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858000" y="42062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meteorology-driven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|  Forecasting — ETS Model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914400"/>
          <a:ext cx="594360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492240" y="914400"/>
            <a:ext cx="2468880" cy="3246120"/>
          </a:xfrm>
          <a:prstGeom prst="rect">
            <a:avLst/>
          </a:prstGeom>
          <a:solidFill>
            <a:srgbClr val="F4F7F6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92240" y="9875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Details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537960" y="146304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26680" y="146304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537960" y="181051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Package: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26680" y="181051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(R)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537960" y="2157984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Frequency: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726680" y="2157984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(weekly)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537960" y="2505456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726680" y="2505456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steps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537960" y="28529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Interval: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726680" y="28529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537960" y="320040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Fit: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726680" y="320040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Auto-selected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537960" y="354787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Components: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726680" y="354787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Error+Trend+Season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65760" y="42976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bands widen over time, reflecting increasing forecast uncertainty. Applied per pollutant via sidebar selector.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|  Key Findings &amp; Recommendations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44752"/>
            <a:ext cx="274320" cy="27432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447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38988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40% of readings fall in Unhealthy or Sensitive categories — a significant public health concern.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975104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093976"/>
            <a:ext cx="274320" cy="27432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0939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203911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CO, NO2, and NOx correlate very strongly (r &gt; 0.94), indicating shared traffic/combustion emission sources.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624328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743200"/>
            <a:ext cx="274320" cy="27432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743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2688336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has negligible correlation with pollutants (r ≈ 0.10) — variation is source-driven.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273552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3392424"/>
            <a:ext cx="274320" cy="27432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39242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33375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 model forecasts a gradual downward trend in CO over the next 30 time steps.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922776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4041648"/>
            <a:ext cx="274320" cy="27432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0416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3986784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 weekly fluctuations are visible — consistent with workday vs. weekend traffic patterns.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9144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54880" y="132588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38074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 Controls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16184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traffic and industrial combustion — primary CO/NO2/NOx drivers.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1975104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02996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System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22677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AQI threshold triggers to automatically issue health advisories.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2624328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67919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Expansion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291693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PM10, SO2, and meteorological sensors for causal modelling.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3273552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32841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Automation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46320" y="35661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weekly ETS re-training to keep predictions adaptive.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3922776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397764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Deployment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46320" y="421538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the Shiny app publicly for citizen access and regulatory transparency.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Quality Monitoring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2606040"/>
            <a:ext cx="4572000" cy="3657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788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R  |  Shiny  |  Plotly  |  forecast  |  Dataset: 1,845 observations  |  6 Pollutant Variables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434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996</Words>
  <Application>Microsoft Office PowerPoint</Application>
  <PresentationFormat>On-screen Show (16:9)</PresentationFormat>
  <Paragraphs>299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 Quality Monitoring Analysis</dc:title>
  <dc:subject>PptxGenJS Presentation</dc:subject>
  <dc:creator>PptxGenJS</dc:creator>
  <cp:lastModifiedBy>Mrs Okoro-Enyi</cp:lastModifiedBy>
  <cp:revision>2</cp:revision>
  <dcterms:created xsi:type="dcterms:W3CDTF">2026-06-04T22:29:32Z</dcterms:created>
  <dcterms:modified xsi:type="dcterms:W3CDTF">2026-06-04T22:38:05Z</dcterms:modified>
</cp:coreProperties>
</file>